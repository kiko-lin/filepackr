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468880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6600" b="1" i="0">
                <a:solidFill>
                  <a:srgbClr val="FFFFFF"/>
                </a:solidFill>
                <a:latin typeface="Cambria"/>
              </a:rPr>
              <a:t>FilePackr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840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0" i="0">
                <a:solidFill>
                  <a:srgbClr val="CFE6E6"/>
                </a:solidFill>
                <a:latin typeface="Calibri"/>
              </a:rPr>
              <a:t>Gestor de archivos comprimidos · nativo para macOS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532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0">
                <a:solidFill>
                  <a:srgbClr val="02C39A"/>
                </a:solidFill>
                <a:latin typeface="Calibri"/>
              </a:rPr>
              <a:t>Trabajo Fin de Máster · Francisco Javier Linares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La necesidad y la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Descomprimir todo solo para sacar un fichero</a:t>
            </a:r>
          </a:p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Cada formato, una herramienta distinta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LA PROPUESTA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Abrir y editar un archivo sin descomprimirlo</a:t>
            </a:r>
          </a:p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Muchos formatos en una sola app nativa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Recorrido por 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2024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Abrir sin descomprimir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Navegar como en el Finder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Previsualizar con Quick Look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Editar: añadir, borrar, renombrar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Extraer, y convertir de formato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Cifrar al exportar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6035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0" i="1">
                <a:solidFill>
                  <a:srgbClr val="607179"/>
                </a:solidFill>
                <a:latin typeface="Calibri"/>
              </a:rPr>
              <a:t>(demostración en pantalla)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Puntos fuertes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2024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Abrir sin descomprimir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Editar como una carpeta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Convertir entre formatos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Cifrado interoperable (AES-256)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Memoria constante (streaming)</a:t>
            </a:r>
          </a:p>
          <a:p>
            <a:pPr algn="l" marL="292608" indent="-292608">
              <a:lnSpc>
                <a:spcPct val="110000"/>
              </a:lnSpc>
              <a:spcAft>
                <a:spcPts val="13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Nativa de macOS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65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100" b="1" i="0">
                <a:solidFill>
                  <a:srgbClr val="1E2C33"/>
                </a:solidFill>
                <a:latin typeface="Cambria"/>
              </a:rPr>
              <a:t>App   </a:t>
            </a:r>
            <a:r>
              <a:rPr sz="1600" b="0" i="0">
                <a:solidFill>
                  <a:srgbClr val="607179"/>
                </a:solidFill>
                <a:latin typeface="Calibri"/>
              </a:rPr>
              <a:t>interfaz — SwiftUI / AppKit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8346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100" b="1" i="0">
                <a:solidFill>
                  <a:srgbClr val="1E2C33"/>
                </a:solidFill>
                <a:latin typeface="Cambria"/>
              </a:rPr>
              <a:t>Modelo   </a:t>
            </a:r>
            <a:r>
              <a:rPr sz="1600" b="0" i="0">
                <a:solidFill>
                  <a:srgbClr val="607179"/>
                </a:solidFill>
                <a:latin typeface="Calibri"/>
              </a:rPr>
              <a:t>estado y operaciones del archivo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7033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100" b="1" i="0">
                <a:solidFill>
                  <a:srgbClr val="1E2C33"/>
                </a:solidFill>
                <a:latin typeface="Cambria"/>
              </a:rPr>
              <a:t>Motor   </a:t>
            </a:r>
            <a:r>
              <a:rPr sz="1600" b="0" i="0">
                <a:solidFill>
                  <a:srgbClr val="607179"/>
                </a:solidFill>
                <a:latin typeface="Calibri"/>
              </a:rPr>
              <a:t>formatos · cifrado · streaming — sin interfaz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029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 i="0">
                <a:solidFill>
                  <a:srgbClr val="1E2C33"/>
                </a:solidFill>
                <a:latin typeface="Calibri"/>
              </a:rPr>
              <a:t>Motor y modelo se prueban sin abrir la app  </a:t>
            </a:r>
            <a:r>
              <a:rPr sz="1600" b="0" i="0">
                <a:solidFill>
                  <a:srgbClr val="028090"/>
                </a:solidFill>
                <a:latin typeface="Courier New"/>
              </a:rPr>
              <a:t>(swift test)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Decisión: motor propio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2024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ZIP escrito a mano, en Swift puro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Control total: leer solo el índice, ZIP64, streaming, cifrado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Formatos exóticos (7z, rar, iso…) → libarchive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Implementar el núcleo, delegar el resto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Decisión: abstracción por formato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65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1" i="0">
                <a:solidFill>
                  <a:srgbClr val="028090"/>
                </a:solidFill>
                <a:latin typeface="Courier New"/>
              </a:rPr>
              <a:t>ArchiveFormat   </a:t>
            </a:r>
            <a:r>
              <a:rPr sz="1700" b="0" i="0">
                <a:solidFill>
                  <a:srgbClr val="1E2C33"/>
                </a:solidFill>
                <a:latin typeface="Calibri"/>
              </a:rPr>
              <a:t>capacidades + detección del formato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788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1" i="0">
                <a:solidFill>
                  <a:srgbClr val="028090"/>
                </a:solidFill>
                <a:latin typeface="Courier New"/>
              </a:rPr>
              <a:t>ArchiveCodec   </a:t>
            </a:r>
            <a:r>
              <a:rPr sz="1700" b="0" i="0">
                <a:solidFill>
                  <a:srgbClr val="1E2C33"/>
                </a:solidFill>
                <a:latin typeface="Calibri"/>
              </a:rPr>
              <a:t>interfaz común: leer y extraer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611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1" i="0">
                <a:solidFill>
                  <a:srgbClr val="028090"/>
                </a:solidFill>
                <a:latin typeface="Courier New"/>
              </a:rPr>
              <a:t>ArchiveEntry   </a:t>
            </a:r>
            <a:r>
              <a:rPr sz="1700" b="0" i="0">
                <a:solidFill>
                  <a:srgbClr val="1E2C33"/>
                </a:solidFill>
                <a:latin typeface="Calibri"/>
              </a:rPr>
              <a:t>entrada neutral, igual para todos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937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 i="1">
                <a:solidFill>
                  <a:srgbClr val="607179"/>
                </a:solidFill>
                <a:latin typeface="Calibri"/>
              </a:rPr>
              <a:t>Añadir un formato nuevo = un caso + su codec + su detección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Decisión: memoria constante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2024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6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Nunca cargar el archivo entero en RAM</a:t>
            </a:r>
          </a:p>
          <a:p>
            <a:pPr algn="l" marL="292608" indent="-292608">
              <a:lnSpc>
                <a:spcPct val="110000"/>
              </a:lnSpc>
              <a:spcAft>
                <a:spcPts val="16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Streaming: leer → procesar → escribir, por trozos</a:t>
            </a:r>
          </a:p>
          <a:p>
            <a:pPr algn="l" marL="292608" indent="-292608">
              <a:lnSpc>
                <a:spcPct val="110000"/>
              </a:lnSpc>
              <a:spcAft>
                <a:spcPts val="1600"/>
              </a:spcAft>
              <a:buClr>
                <a:srgbClr val="028090"/>
              </a:buClr>
              <a:buFont typeface="Arial"/>
              <a:buChar char="—"/>
            </a:pPr>
            <a:r>
              <a:rPr sz="1900" b="0" i="0">
                <a:solidFill>
                  <a:srgbClr val="1E2C33"/>
                </a:solidFill>
                <a:latin typeface="Calibri"/>
              </a:rPr>
              <a:t>La RAM no depende del tamaño (10 MB o 10 GB, igual)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Decisión: cifrado interoperable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2024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Dos estándares: ZipCrypto (débil) y AES-256 (fuerte)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Compatible con Finder, WinZip y 7-Zip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Lo difícil: encajar el formato byte a byte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Interoperabilidad verificada con pruebas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Calidad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~200 pruebas automatizadas</a:t>
            </a:r>
          </a:p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Integración continua en cada cambio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Extracción segura (Zip-Slip) y bombas de descompresión</a:t>
            </a:r>
          </a:p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Contraseñas solo en memoria · hardened 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Distribución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2024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Empaquetada en .dmg (script reproducible)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Hardened runtime, lista para notarizar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Open source: compilable desde el código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Publicada como GitHub Release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Retos y aprendizajes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RETOS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Formatos binarios byte a byte</a:t>
            </a:r>
          </a:p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Streaming con acceso aleatorio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APRENDIZAJES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Diseñar para lo desconocido</a:t>
            </a:r>
          </a:p>
          <a:p>
            <a:pPr algn="l" marL="292608" indent="-29260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Verificar contra el mundo real · separar lógica y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000" b="1" i="0">
                <a:solidFill>
                  <a:srgbClr val="1E2C33"/>
                </a:solidFill>
                <a:latin typeface="Cambria"/>
              </a:rPr>
              <a:t>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920240"/>
            <a:ext cx="10058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Cifrado al escribir en más formatos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Optimizar el rendimiento del cifrado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Más formatos y motores de compresión</a:t>
            </a:r>
          </a:p>
          <a:p>
            <a:pPr algn="l" marL="292608" indent="-292608">
              <a:lnSpc>
                <a:spcPct val="110000"/>
              </a:lnSpc>
              <a:spcAft>
                <a:spcPts val="1500"/>
              </a:spcAft>
              <a:buClr>
                <a:srgbClr val="028090"/>
              </a:buClr>
              <a:buFont typeface="Arial"/>
              <a:buChar char="—"/>
            </a:pPr>
            <a:r>
              <a:rPr sz="1800" b="0" i="0">
                <a:solidFill>
                  <a:srgbClr val="1E2C33"/>
                </a:solidFill>
                <a:latin typeface="Calibri"/>
              </a:rPr>
              <a:t>Notarización: distribución sin fricción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468880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5600" b="1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977639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b="1" i="0">
                <a:solidFill>
                  <a:srgbClr val="02C39A"/>
                </a:solidFill>
                <a:latin typeface="Calibri"/>
              </a:rPr>
              <a:t>github.com/kiko-lin/FilePackr</a:t>
            </a:r>
          </a:p>
          <a:p>
            <a:pPr algn="l">
              <a:spcAft>
                <a:spcPts val="600"/>
              </a:spcAft>
              <a:buNone/>
            </a:pPr>
            <a:r>
              <a:rPr sz="1500" b="0" i="0">
                <a:solidFill>
                  <a:srgbClr val="CFE6E6"/>
                </a:solidFill>
                <a:latin typeface="Calibri"/>
              </a:rPr>
              <a:t>Descarga · Presentación · Documentación en el repositorio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